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">
          <p15:clr>
            <a:srgbClr val="747775"/>
          </p15:clr>
        </p15:guide>
        <p15:guide id="2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" orient="horz"/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598b7d58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598b7d58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598b7d58b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598b7d58b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29d8881e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d29d8881e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98b7d58b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598b7d58b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29fa7c5e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d29fa7c5e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29fa7c5e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d29fa7c5e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29fa7c5e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d29fa7c5e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29fa7c5e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d29fa7c5e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29fa7c5e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d29fa7c5e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d29fa7c5e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d29fa7c5e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29fa7c5e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d29fa7c5e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29fa7c5e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d29fa7c5e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5ce993a9d3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5ce993a9d3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598b7d58b2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598b7d58b2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Qrocket-lab/Profiling-Digital-Behavior-of-Public-WiFi-Users-in-Indonesia_Dummy-data/" TargetMode="External"/><Relationship Id="rId4" Type="http://schemas.openxmlformats.org/officeDocument/2006/relationships/hyperlink" Target="https://qrocketlab.xyz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39" name="Google Shape;439;p41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40" name="Google Shape;440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41" name="Google Shape;441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2" name="Google Shape;442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44" name="Google Shape;444;p41"/>
          <p:cNvSpPr txBox="1"/>
          <p:nvPr>
            <p:ph type="title"/>
          </p:nvPr>
        </p:nvSpPr>
        <p:spPr>
          <a:xfrm>
            <a:off x="228600" y="228600"/>
            <a:ext cx="67830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b="1" lang="en" sz="3300">
                <a:solidFill>
                  <a:srgbClr val="F0F6FC"/>
                </a:solidFill>
                <a:highlight>
                  <a:srgbClr val="0D1117"/>
                </a:highlight>
                <a:latin typeface="Arial"/>
                <a:ea typeface="Arial"/>
                <a:cs typeface="Arial"/>
                <a:sym typeface="Arial"/>
              </a:rPr>
              <a:t>Beyond the Login : Profiling Digital Behavior of Public WiFi Users in Indonesia</a:t>
            </a:r>
            <a:endParaRPr sz="3300">
              <a:solidFill>
                <a:schemeClr val="lt1"/>
              </a:solidFill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222300" y="2059900"/>
            <a:ext cx="5858400" cy="11388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0F6FC"/>
                </a:solidFill>
                <a:highlight>
                  <a:srgbClr val="0D1117"/>
                </a:highlight>
                <a:latin typeface="Arial"/>
                <a:ea typeface="Arial"/>
                <a:cs typeface="Arial"/>
                <a:sym typeface="Arial"/>
              </a:rPr>
              <a:t>This project </a:t>
            </a:r>
            <a:r>
              <a:rPr b="1" lang="en" sz="1200">
                <a:solidFill>
                  <a:schemeClr val="accent3"/>
                </a:solidFill>
                <a:highlight>
                  <a:srgbClr val="0D1117"/>
                </a:highlight>
                <a:latin typeface="Arial"/>
                <a:ea typeface="Arial"/>
                <a:cs typeface="Arial"/>
                <a:sym typeface="Arial"/>
              </a:rPr>
              <a:t>analyzes user behavior patterns from public WiFi hotspot login data across major Indonesian cities.</a:t>
            </a:r>
            <a:r>
              <a:rPr lang="en" sz="1200">
                <a:solidFill>
                  <a:srgbClr val="F0F6FC"/>
                </a:solidFill>
                <a:highlight>
                  <a:srgbClr val="0D1117"/>
                </a:highlight>
                <a:latin typeface="Arial"/>
                <a:ea typeface="Arial"/>
                <a:cs typeface="Arial"/>
                <a:sym typeface="Arial"/>
              </a:rPr>
              <a:t> The analysis covers demographic segmentation, device preferences, digital interest levels, and login time patterns </a:t>
            </a:r>
            <a:r>
              <a:rPr lang="en" sz="1200">
                <a:solidFill>
                  <a:schemeClr val="accent3"/>
                </a:solidFill>
                <a:highlight>
                  <a:srgbClr val="0D1117"/>
                </a:highlight>
                <a:latin typeface="Arial"/>
                <a:ea typeface="Arial"/>
                <a:cs typeface="Arial"/>
                <a:sym typeface="Arial"/>
              </a:rPr>
              <a:t>to extract actionable business insights for location based digital marketing.</a:t>
            </a:r>
            <a:endParaRPr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6" name="Google Shape;446;p4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Qodri Muhamad</a:t>
            </a:r>
            <a:endParaRPr/>
          </a:p>
        </p:txBody>
      </p:sp>
      <p:sp>
        <p:nvSpPr>
          <p:cNvPr id="447" name="Google Shape;447;p41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Repo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48" name="Google Shape;448;p41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</a:t>
            </a:r>
            <a:r>
              <a:rPr lang="en"/>
              <a:t> /  March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  <p:sp>
        <p:nvSpPr>
          <p:cNvPr id="450" name="Google Shape;450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451" name="Google Shape;451;p4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452" name="Google Shape;452;p4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53" name="Google Shape;453;p41"/>
          <p:cNvSpPr/>
          <p:nvPr/>
        </p:nvSpPr>
        <p:spPr>
          <a:xfrm>
            <a:off x="3225900" y="4120850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41"/>
          <p:cNvSpPr txBox="1"/>
          <p:nvPr>
            <p:ph idx="6" type="subTitle"/>
          </p:nvPr>
        </p:nvSpPr>
        <p:spPr>
          <a:xfrm>
            <a:off x="3293100" y="4183375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hlinkClick r:id="rId4"/>
              </a:rPr>
              <a:t>Portofolio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/>
          <p:nvPr/>
        </p:nvSpPr>
        <p:spPr>
          <a:xfrm>
            <a:off x="320625" y="9133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0" name="Google Shape;460;p42"/>
          <p:cNvSpPr/>
          <p:nvPr/>
        </p:nvSpPr>
        <p:spPr>
          <a:xfrm>
            <a:off x="320625" y="159110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1" name="Google Shape;461;p42"/>
          <p:cNvSpPr/>
          <p:nvPr/>
        </p:nvSpPr>
        <p:spPr>
          <a:xfrm>
            <a:off x="320625" y="226890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42"/>
          <p:cNvSpPr/>
          <p:nvPr/>
        </p:nvSpPr>
        <p:spPr>
          <a:xfrm>
            <a:off x="320625" y="294667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3" name="Google Shape;463;p42"/>
          <p:cNvSpPr/>
          <p:nvPr/>
        </p:nvSpPr>
        <p:spPr>
          <a:xfrm>
            <a:off x="320625" y="36244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64" name="Google Shape;464;p42"/>
          <p:cNvGrpSpPr/>
          <p:nvPr/>
        </p:nvGrpSpPr>
        <p:grpSpPr>
          <a:xfrm rot="-5400000">
            <a:off x="4258180" y="1115500"/>
            <a:ext cx="204654" cy="204654"/>
            <a:chOff x="259788" y="1923155"/>
            <a:chExt cx="409800" cy="409800"/>
          </a:xfrm>
        </p:grpSpPr>
        <p:sp>
          <p:nvSpPr>
            <p:cNvPr id="465" name="Google Shape;465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6" name="Google Shape;466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7" name="Google Shape;467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8" name="Google Shape;468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69" name="Google Shape;469;p42"/>
          <p:cNvGrpSpPr/>
          <p:nvPr/>
        </p:nvGrpSpPr>
        <p:grpSpPr>
          <a:xfrm rot="-5400000">
            <a:off x="4258180" y="1793285"/>
            <a:ext cx="204654" cy="204654"/>
            <a:chOff x="259788" y="1923155"/>
            <a:chExt cx="409800" cy="409800"/>
          </a:xfrm>
        </p:grpSpPr>
        <p:sp>
          <p:nvSpPr>
            <p:cNvPr id="470" name="Google Shape;470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1" name="Google Shape;471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2" name="Google Shape;472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4" name="Google Shape;474;p42"/>
          <p:cNvGrpSpPr/>
          <p:nvPr/>
        </p:nvGrpSpPr>
        <p:grpSpPr>
          <a:xfrm rot="-5400000">
            <a:off x="4258180" y="2471070"/>
            <a:ext cx="204654" cy="204654"/>
            <a:chOff x="259788" y="1923155"/>
            <a:chExt cx="409800" cy="409800"/>
          </a:xfrm>
        </p:grpSpPr>
        <p:sp>
          <p:nvSpPr>
            <p:cNvPr id="475" name="Google Shape;475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6" name="Google Shape;476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7" name="Google Shape;477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" name="Google Shape;478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79" name="Google Shape;479;p42"/>
          <p:cNvGrpSpPr/>
          <p:nvPr/>
        </p:nvGrpSpPr>
        <p:grpSpPr>
          <a:xfrm rot="-5400000">
            <a:off x="4258180" y="3148855"/>
            <a:ext cx="204654" cy="204654"/>
            <a:chOff x="259788" y="1923155"/>
            <a:chExt cx="409800" cy="409800"/>
          </a:xfrm>
        </p:grpSpPr>
        <p:sp>
          <p:nvSpPr>
            <p:cNvPr id="480" name="Google Shape;480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1" name="Google Shape;481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2" name="Google Shape;482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84" name="Google Shape;484;p42"/>
          <p:cNvGrpSpPr/>
          <p:nvPr/>
        </p:nvGrpSpPr>
        <p:grpSpPr>
          <a:xfrm rot="-5400000">
            <a:off x="4258180" y="3826640"/>
            <a:ext cx="204654" cy="204654"/>
            <a:chOff x="259788" y="1923155"/>
            <a:chExt cx="409800" cy="409800"/>
          </a:xfrm>
        </p:grpSpPr>
        <p:sp>
          <p:nvSpPr>
            <p:cNvPr id="485" name="Google Shape;485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6" name="Google Shape;486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7" name="Google Shape;487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9" name="Google Shape;489;p4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490" name="Google Shape;490;p4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491" name="Google Shape;491;p4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492" name="Google Shape;492;p42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93" name="Google Shape;493;p42"/>
          <p:cNvSpPr txBox="1"/>
          <p:nvPr>
            <p:ph idx="4" type="subTitle"/>
          </p:nvPr>
        </p:nvSpPr>
        <p:spPr>
          <a:xfrm>
            <a:off x="446250" y="107187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94" name="Google Shape;494;p42"/>
          <p:cNvSpPr txBox="1"/>
          <p:nvPr>
            <p:ph idx="5" type="subTitle"/>
          </p:nvPr>
        </p:nvSpPr>
        <p:spPr>
          <a:xfrm>
            <a:off x="446250" y="1748813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95" name="Google Shape;495;p42"/>
          <p:cNvSpPr txBox="1"/>
          <p:nvPr>
            <p:ph idx="6" type="subTitle"/>
          </p:nvPr>
        </p:nvSpPr>
        <p:spPr>
          <a:xfrm>
            <a:off x="446250" y="24257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96" name="Google Shape;496;p42"/>
          <p:cNvSpPr txBox="1"/>
          <p:nvPr>
            <p:ph idx="7" type="subTitle"/>
          </p:nvPr>
        </p:nvSpPr>
        <p:spPr>
          <a:xfrm>
            <a:off x="446250" y="31070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97" name="Google Shape;497;p42"/>
          <p:cNvSpPr txBox="1"/>
          <p:nvPr>
            <p:ph idx="8" type="subTitle"/>
          </p:nvPr>
        </p:nvSpPr>
        <p:spPr>
          <a:xfrm>
            <a:off x="446250" y="37813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98" name="Google Shape;498;p42"/>
          <p:cNvSpPr txBox="1"/>
          <p:nvPr>
            <p:ph idx="13" type="subTitle"/>
          </p:nvPr>
        </p:nvSpPr>
        <p:spPr>
          <a:xfrm>
            <a:off x="768750" y="107187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499" name="Google Shape;499;p42"/>
          <p:cNvSpPr txBox="1"/>
          <p:nvPr>
            <p:ph idx="14" type="subTitle"/>
          </p:nvPr>
        </p:nvSpPr>
        <p:spPr>
          <a:xfrm>
            <a:off x="768750" y="1748813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500" name="Google Shape;500;p42"/>
          <p:cNvSpPr txBox="1"/>
          <p:nvPr>
            <p:ph idx="15" type="subTitle"/>
          </p:nvPr>
        </p:nvSpPr>
        <p:spPr>
          <a:xfrm>
            <a:off x="768750" y="24257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Who are the users?</a:t>
            </a:r>
            <a:endParaRPr/>
          </a:p>
        </p:txBody>
      </p:sp>
      <p:sp>
        <p:nvSpPr>
          <p:cNvPr id="501" name="Google Shape;501;p42"/>
          <p:cNvSpPr txBox="1"/>
          <p:nvPr>
            <p:ph idx="16" type="subTitle"/>
          </p:nvPr>
        </p:nvSpPr>
        <p:spPr>
          <a:xfrm>
            <a:off x="768750" y="31070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Where do they connect?</a:t>
            </a:r>
            <a:endParaRPr/>
          </a:p>
        </p:txBody>
      </p:sp>
      <p:sp>
        <p:nvSpPr>
          <p:cNvPr id="502" name="Google Shape;502;p42"/>
          <p:cNvSpPr txBox="1"/>
          <p:nvPr>
            <p:ph idx="17" type="subTitle"/>
          </p:nvPr>
        </p:nvSpPr>
        <p:spPr>
          <a:xfrm>
            <a:off x="768750" y="37813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What device do they use?</a:t>
            </a:r>
            <a:endParaRPr/>
          </a:p>
        </p:txBody>
      </p:sp>
      <p:sp>
        <p:nvSpPr>
          <p:cNvPr id="503" name="Google Shape;503;p42"/>
          <p:cNvSpPr/>
          <p:nvPr/>
        </p:nvSpPr>
        <p:spPr>
          <a:xfrm>
            <a:off x="4716750" y="91497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4716750" y="1592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5" name="Google Shape;505;p42"/>
          <p:cNvSpPr/>
          <p:nvPr/>
        </p:nvSpPr>
        <p:spPr>
          <a:xfrm>
            <a:off x="4716750" y="22705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4716750" y="29483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4716750" y="362612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08" name="Google Shape;508;p42"/>
          <p:cNvGrpSpPr/>
          <p:nvPr/>
        </p:nvGrpSpPr>
        <p:grpSpPr>
          <a:xfrm rot="-5400000">
            <a:off x="8654305" y="1117150"/>
            <a:ext cx="204654" cy="204654"/>
            <a:chOff x="259788" y="1923155"/>
            <a:chExt cx="409800" cy="409800"/>
          </a:xfrm>
        </p:grpSpPr>
        <p:sp>
          <p:nvSpPr>
            <p:cNvPr id="509" name="Google Shape;509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0" name="Google Shape;510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1" name="Google Shape;511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" name="Google Shape;512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3" name="Google Shape;513;p42"/>
          <p:cNvGrpSpPr/>
          <p:nvPr/>
        </p:nvGrpSpPr>
        <p:grpSpPr>
          <a:xfrm rot="-5400000">
            <a:off x="8654305" y="1794935"/>
            <a:ext cx="204654" cy="204654"/>
            <a:chOff x="259788" y="1923155"/>
            <a:chExt cx="409800" cy="409800"/>
          </a:xfrm>
        </p:grpSpPr>
        <p:sp>
          <p:nvSpPr>
            <p:cNvPr id="514" name="Google Shape;514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5" name="Google Shape;515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6" name="Google Shape;516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7" name="Google Shape;517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8" name="Google Shape;518;p42"/>
          <p:cNvGrpSpPr/>
          <p:nvPr/>
        </p:nvGrpSpPr>
        <p:grpSpPr>
          <a:xfrm rot="-5400000">
            <a:off x="8654305" y="2472720"/>
            <a:ext cx="204654" cy="204654"/>
            <a:chOff x="259788" y="1923155"/>
            <a:chExt cx="409800" cy="409800"/>
          </a:xfrm>
        </p:grpSpPr>
        <p:sp>
          <p:nvSpPr>
            <p:cNvPr id="519" name="Google Shape;519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0" name="Google Shape;520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1" name="Google Shape;521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2" name="Google Shape;522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23" name="Google Shape;523;p42"/>
          <p:cNvGrpSpPr/>
          <p:nvPr/>
        </p:nvGrpSpPr>
        <p:grpSpPr>
          <a:xfrm rot="-5400000">
            <a:off x="8654305" y="3150505"/>
            <a:ext cx="204654" cy="204654"/>
            <a:chOff x="259788" y="1923155"/>
            <a:chExt cx="409800" cy="409800"/>
          </a:xfrm>
        </p:grpSpPr>
        <p:sp>
          <p:nvSpPr>
            <p:cNvPr id="524" name="Google Shape;524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5" name="Google Shape;525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6" name="Google Shape;526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7" name="Google Shape;527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28" name="Google Shape;528;p42"/>
          <p:cNvGrpSpPr/>
          <p:nvPr/>
        </p:nvGrpSpPr>
        <p:grpSpPr>
          <a:xfrm rot="-5400000">
            <a:off x="8654305" y="3828290"/>
            <a:ext cx="204654" cy="204654"/>
            <a:chOff x="259788" y="1923155"/>
            <a:chExt cx="409800" cy="409800"/>
          </a:xfrm>
        </p:grpSpPr>
        <p:sp>
          <p:nvSpPr>
            <p:cNvPr id="529" name="Google Shape;529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30" name="Google Shape;530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31" name="Google Shape;531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2" name="Google Shape;532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33" name="Google Shape;533;p42"/>
          <p:cNvSpPr txBox="1"/>
          <p:nvPr>
            <p:ph idx="4" type="subTitle"/>
          </p:nvPr>
        </p:nvSpPr>
        <p:spPr>
          <a:xfrm>
            <a:off x="4842375" y="10735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34" name="Google Shape;534;p42"/>
          <p:cNvSpPr txBox="1"/>
          <p:nvPr>
            <p:ph idx="5" type="subTitle"/>
          </p:nvPr>
        </p:nvSpPr>
        <p:spPr>
          <a:xfrm>
            <a:off x="4842375" y="1750463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535" name="Google Shape;535;p42"/>
          <p:cNvSpPr txBox="1"/>
          <p:nvPr>
            <p:ph idx="6" type="subTitle"/>
          </p:nvPr>
        </p:nvSpPr>
        <p:spPr>
          <a:xfrm>
            <a:off x="4842375" y="242740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36" name="Google Shape;536;p42"/>
          <p:cNvSpPr txBox="1"/>
          <p:nvPr>
            <p:ph idx="7" type="subTitle"/>
          </p:nvPr>
        </p:nvSpPr>
        <p:spPr>
          <a:xfrm>
            <a:off x="4842375" y="310868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37" name="Google Shape;537;p42"/>
          <p:cNvSpPr txBox="1"/>
          <p:nvPr>
            <p:ph idx="8" type="subTitle"/>
          </p:nvPr>
        </p:nvSpPr>
        <p:spPr>
          <a:xfrm>
            <a:off x="4842375" y="3782975"/>
            <a:ext cx="4008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38" name="Google Shape;538;p42"/>
          <p:cNvSpPr txBox="1"/>
          <p:nvPr>
            <p:ph idx="13" type="subTitle"/>
          </p:nvPr>
        </p:nvSpPr>
        <p:spPr>
          <a:xfrm>
            <a:off x="5164875" y="10735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they login?</a:t>
            </a:r>
            <a:endParaRPr/>
          </a:p>
        </p:txBody>
      </p:sp>
      <p:sp>
        <p:nvSpPr>
          <p:cNvPr id="539" name="Google Shape;539;p42"/>
          <p:cNvSpPr txBox="1"/>
          <p:nvPr>
            <p:ph idx="14" type="subTitle"/>
          </p:nvPr>
        </p:nvSpPr>
        <p:spPr>
          <a:xfrm>
            <a:off x="5164875" y="1750463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How digitally engaged are they?</a:t>
            </a:r>
            <a:endParaRPr/>
          </a:p>
        </p:txBody>
      </p:sp>
      <p:sp>
        <p:nvSpPr>
          <p:cNvPr id="540" name="Google Shape;540;p42"/>
          <p:cNvSpPr txBox="1"/>
          <p:nvPr>
            <p:ph idx="15" type="subTitle"/>
          </p:nvPr>
        </p:nvSpPr>
        <p:spPr>
          <a:xfrm>
            <a:off x="5164875" y="242740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Statistical confidence</a:t>
            </a:r>
            <a:endParaRPr/>
          </a:p>
        </p:txBody>
      </p:sp>
      <p:sp>
        <p:nvSpPr>
          <p:cNvPr id="541" name="Google Shape;541;p42"/>
          <p:cNvSpPr txBox="1"/>
          <p:nvPr>
            <p:ph idx="16" type="subTitle"/>
          </p:nvPr>
        </p:nvSpPr>
        <p:spPr>
          <a:xfrm>
            <a:off x="5164875" y="310868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Actionable recommendations</a:t>
            </a:r>
            <a:endParaRPr/>
          </a:p>
        </p:txBody>
      </p:sp>
      <p:sp>
        <p:nvSpPr>
          <p:cNvPr id="542" name="Google Shape;542;p42"/>
          <p:cNvSpPr txBox="1"/>
          <p:nvPr>
            <p:ph idx="17" type="subTitle"/>
          </p:nvPr>
        </p:nvSpPr>
        <p:spPr>
          <a:xfrm>
            <a:off x="5164875" y="378298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Tools and Methodology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547" name="Google Shape;547;p43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3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"Every day, </a:t>
            </a:r>
            <a:r>
              <a:rPr b="1" lang="en" sz="21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rPr>
              <a:t>thousands of users log into public WiFi hotspots across Indonesia</a:t>
            </a:r>
            <a:r>
              <a:rPr lang="en" sz="2100">
                <a:solidFill>
                  <a:schemeClr val="accent3"/>
                </a:solidFill>
              </a:rPr>
              <a:t>.</a:t>
            </a:r>
            <a:r>
              <a:rPr lang="en" sz="2100"/>
              <a:t> They enter their name, email, and phone number. </a:t>
            </a:r>
            <a:r>
              <a:rPr lang="en" sz="2100">
                <a:solidFill>
                  <a:schemeClr val="accent3"/>
                </a:solidFill>
              </a:rPr>
              <a:t>But what do we actually know about them?"</a:t>
            </a:r>
            <a:endParaRPr sz="21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549" name="Google Shape;549;p43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550" name="Google Shape;550;p4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551" name="Google Shape;551;p4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552" name="Google Shape;552;p4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4"/>
          <p:cNvSpPr txBox="1"/>
          <p:nvPr>
            <p:ph type="title"/>
          </p:nvPr>
        </p:nvSpPr>
        <p:spPr>
          <a:xfrm>
            <a:off x="195965" y="290450"/>
            <a:ext cx="8608800" cy="78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latin typeface="Urbanist"/>
                <a:ea typeface="Urbanist"/>
                <a:cs typeface="Urbanist"/>
                <a:sym typeface="Urbanist"/>
              </a:rPr>
              <a:t>Data Overview</a:t>
            </a:r>
            <a:endParaRPr b="1" sz="4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8" name="Google Shape;558;p44"/>
          <p:cNvSpPr txBox="1"/>
          <p:nvPr>
            <p:ph idx="1" type="subTitle"/>
          </p:nvPr>
        </p:nvSpPr>
        <p:spPr>
          <a:xfrm>
            <a:off x="213000" y="1061263"/>
            <a:ext cx="8624100" cy="11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The dataset </a:t>
            </a:r>
            <a:r>
              <a:rPr b="1" lang="en" sz="1400">
                <a:solidFill>
                  <a:schemeClr val="accent3"/>
                </a:solidFill>
              </a:rPr>
              <a:t>was synthetically generated using Python's Faker library with Indonesian locale (id_ID) to simulate realistic WiFi captive portal login records.</a:t>
            </a:r>
            <a:r>
              <a:rPr lang="en" sz="1400">
                <a:solidFill>
                  <a:schemeClr val="dk2"/>
                </a:solidFill>
              </a:rPr>
              <a:t> Each record mirrors the data structure that platforms would collect when a user connects to a public WiFi hotspot:</a:t>
            </a:r>
            <a:r>
              <a:rPr b="1" lang="en" sz="1400">
                <a:solidFill>
                  <a:schemeClr val="accent3"/>
                </a:solidFill>
              </a:rPr>
              <a:t> personal details filled in by the user, device information detected by the system, and a timestamp logged automatically. </a:t>
            </a:r>
            <a:r>
              <a:rPr lang="en" sz="1400">
                <a:solidFill>
                  <a:schemeClr val="dk2"/>
                </a:solidFill>
              </a:rPr>
              <a:t>Weighted random distributions were applied to variables such as device brand and digital interest level to approximate real Indonesian market proportions.</a:t>
            </a:r>
            <a:endParaRPr b="1">
              <a:solidFill>
                <a:schemeClr val="accent3"/>
              </a:solidFill>
            </a:endParaRPr>
          </a:p>
        </p:txBody>
      </p:sp>
      <p:pic>
        <p:nvPicPr>
          <p:cNvPr id="559" name="Google Shape;55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341950"/>
            <a:ext cx="7595549" cy="19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561" name="Google Shape;561;p4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562" name="Google Shape;562;p4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5"/>
          <p:cNvSpPr txBox="1"/>
          <p:nvPr>
            <p:ph type="title"/>
          </p:nvPr>
        </p:nvSpPr>
        <p:spPr>
          <a:xfrm>
            <a:off x="195965" y="290450"/>
            <a:ext cx="8608800" cy="78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latin typeface="Urbanist"/>
                <a:ea typeface="Urbanist"/>
                <a:cs typeface="Urbanist"/>
                <a:sym typeface="Urbanist"/>
              </a:rPr>
              <a:t>Data Overview</a:t>
            </a:r>
            <a:endParaRPr b="1" sz="4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8" name="Google Shape;568;p45"/>
          <p:cNvSpPr txBox="1"/>
          <p:nvPr>
            <p:ph idx="1" type="subTitle"/>
          </p:nvPr>
        </p:nvSpPr>
        <p:spPr>
          <a:xfrm>
            <a:off x="213000" y="1170067"/>
            <a:ext cx="8624100" cy="43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i="1" lang="en" sz="1400">
                <a:solidFill>
                  <a:schemeClr val="accent3"/>
                </a:solidFill>
              </a:rPr>
              <a:t>Derived variables through feature engineering</a:t>
            </a:r>
            <a:r>
              <a:rPr lang="en" sz="1400">
                <a:solidFill>
                  <a:schemeClr val="dk2"/>
                </a:solidFill>
              </a:rPr>
              <a:t> (6 new columns):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- Usia, Generasi, Waktu Sesi, Skor Minat Digital, Status Aktif, Domain Email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569" name="Google Shape;569;p4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570" name="Google Shape;570;p4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571" name="Google Shape;571;p4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572" name="Google Shape;57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1492"/>
            <a:ext cx="8839199" cy="2069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6"/>
          <p:cNvSpPr txBox="1"/>
          <p:nvPr>
            <p:ph type="title"/>
          </p:nvPr>
        </p:nvSpPr>
        <p:spPr>
          <a:xfrm>
            <a:off x="174576" y="457200"/>
            <a:ext cx="5602200" cy="78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latin typeface="Urbanist"/>
                <a:ea typeface="Urbanist"/>
                <a:cs typeface="Urbanist"/>
                <a:sym typeface="Urbanist"/>
              </a:rPr>
              <a:t>Who Are the Users?</a:t>
            </a:r>
            <a:endParaRPr b="1" sz="4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8" name="Google Shape;578;p46"/>
          <p:cNvSpPr txBox="1"/>
          <p:nvPr>
            <p:ph idx="1" type="subTitle"/>
          </p:nvPr>
        </p:nvSpPr>
        <p:spPr>
          <a:xfrm>
            <a:off x="4425250" y="1499025"/>
            <a:ext cx="4589700" cy="187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400">
                <a:solidFill>
                  <a:schemeClr val="accent3"/>
                </a:solidFill>
              </a:rPr>
              <a:t>Age Profile:</a:t>
            </a:r>
            <a:endParaRPr b="1" sz="1400">
              <a:solidFill>
                <a:schemeClr val="accent3"/>
              </a:solidFill>
            </a:endParaRPr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Average age: 37.75 years (95% CI: 36.83 to 38.67)</a:t>
            </a:r>
            <a:endParaRPr sz="1400">
              <a:solidFill>
                <a:schemeClr val="dk2"/>
              </a:solidFill>
            </a:endParaRPr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Spread across all generations, strongest in Millennial and Gen X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400">
                <a:solidFill>
                  <a:schemeClr val="accent3"/>
                </a:solidFill>
              </a:rPr>
              <a:t>Generation Breakdown:</a:t>
            </a:r>
            <a:endParaRPr b="1" sz="1400">
              <a:solidFill>
                <a:schemeClr val="accent3"/>
              </a:solidFill>
            </a:endParaRPr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Gen Z, Millennial, Gen X, Boomer segments present</a:t>
            </a:r>
            <a:endParaRPr sz="1400">
              <a:solidFill>
                <a:schemeClr val="dk2"/>
              </a:solidFill>
            </a:endParaRPr>
          </a:p>
          <a:p>
            <a:pPr indent="-2032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Working professionals dominate over students</a:t>
            </a:r>
            <a:endParaRPr sz="1400">
              <a:solidFill>
                <a:schemeClr val="dk2"/>
              </a:solidFill>
            </a:endParaRPr>
          </a:p>
        </p:txBody>
      </p:sp>
      <p:sp>
        <p:nvSpPr>
          <p:cNvPr id="579" name="Google Shape;579;p4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580" name="Google Shape;580;p4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581" name="Google Shape;581;p4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582" name="Google Shape;5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1499025"/>
            <a:ext cx="3673300" cy="27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7"/>
          <p:cNvSpPr txBox="1"/>
          <p:nvPr>
            <p:ph type="title"/>
          </p:nvPr>
        </p:nvSpPr>
        <p:spPr>
          <a:xfrm>
            <a:off x="228600" y="613525"/>
            <a:ext cx="7535100" cy="615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Urbanist"/>
                <a:ea typeface="Urbanist"/>
                <a:cs typeface="Urbanist"/>
                <a:sym typeface="Urbanist"/>
              </a:rPr>
              <a:t>Where Do They Connect?</a:t>
            </a:r>
            <a:endParaRPr b="1" sz="40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8" name="Google Shape;588;p47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7"/>
          <p:cNvSpPr txBox="1"/>
          <p:nvPr>
            <p:ph idx="1" type="body"/>
          </p:nvPr>
        </p:nvSpPr>
        <p:spPr>
          <a:xfrm>
            <a:off x="4716750" y="1385450"/>
            <a:ext cx="3990000" cy="14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Top locations by user volume:</a:t>
            </a: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Yogyakarta and Jakarta Selatan lead adoption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Tourism locations (Yogyakarta, Denpasar) perform on par with urban centers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Palembang (Suburban) shows promising early traction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Takeaway:</a:t>
            </a:r>
            <a:r>
              <a:rPr lang="en" sz="1100"/>
              <a:t> </a:t>
            </a:r>
            <a:r>
              <a:rPr i="1" lang="en" sz="1100">
                <a:solidFill>
                  <a:schemeClr val="accent3"/>
                </a:solidFill>
              </a:rPr>
              <a:t>Hotspot placement strategy should not ignore tourism and suburban areas.</a:t>
            </a:r>
            <a:endParaRPr i="1" sz="1100">
              <a:solidFill>
                <a:schemeClr val="accent3"/>
              </a:solidFill>
            </a:endParaRPr>
          </a:p>
        </p:txBody>
      </p:sp>
      <p:pic>
        <p:nvPicPr>
          <p:cNvPr id="590" name="Google Shape;590;p47" title="slide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385450"/>
            <a:ext cx="4296451" cy="2840718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592" name="Google Shape;592;p47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593" name="Google Shape;593;p4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8"/>
          <p:cNvSpPr txBox="1"/>
          <p:nvPr>
            <p:ph type="title"/>
          </p:nvPr>
        </p:nvSpPr>
        <p:spPr>
          <a:xfrm>
            <a:off x="228600" y="613525"/>
            <a:ext cx="7535100" cy="56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Urbanist"/>
                <a:ea typeface="Urbanist"/>
                <a:cs typeface="Urbanist"/>
                <a:sym typeface="Urbanist"/>
              </a:rPr>
              <a:t>What Devices Do They Use?</a:t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9" name="Google Shape;599;p4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8"/>
          <p:cNvSpPr txBox="1"/>
          <p:nvPr>
            <p:ph idx="1" type="body"/>
          </p:nvPr>
        </p:nvSpPr>
        <p:spPr>
          <a:xfrm>
            <a:off x="5174600" y="1372550"/>
            <a:ext cx="3641400" cy="21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Market share among hotspot users:</a:t>
            </a:r>
            <a:endParaRPr b="1" sz="1100"/>
          </a:p>
          <a:p>
            <a:pPr indent="-12700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Samsung: 23%</a:t>
            </a:r>
            <a:endParaRPr sz="1100"/>
          </a:p>
          <a:p>
            <a:pPr indent="-12700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Xiaomi: 20%</a:t>
            </a:r>
            <a:endParaRPr sz="1100"/>
          </a:p>
          <a:p>
            <a:pPr indent="-12700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OPPO: 14%</a:t>
            </a:r>
            <a:endParaRPr sz="1100"/>
          </a:p>
          <a:p>
            <a:pPr indent="-12700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Vivo: 14%</a:t>
            </a:r>
            <a:endParaRPr sz="1100"/>
          </a:p>
          <a:p>
            <a:pPr indent="-12700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Apple: 13%</a:t>
            </a:r>
            <a:endParaRPr sz="1100"/>
          </a:p>
          <a:p>
            <a:pPr indent="-127000" lvl="0" marL="2286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Others: 16%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Takeaway: </a:t>
            </a:r>
            <a:r>
              <a:rPr i="1" lang="en" sz="1100">
                <a:solidFill>
                  <a:schemeClr val="accent3"/>
                </a:solidFill>
              </a:rPr>
              <a:t>Login portal and ad creatives must be optimized for Samsung and Xiaomi first. Apple users, while fewer, may represent a premium segment.</a:t>
            </a:r>
            <a:endParaRPr i="1" sz="1100">
              <a:solidFill>
                <a:schemeClr val="accent3"/>
              </a:solidFill>
            </a:endParaRPr>
          </a:p>
        </p:txBody>
      </p:sp>
      <p:pic>
        <p:nvPicPr>
          <p:cNvPr id="601" name="Google Shape;601;p48" title="slide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50" y="1162200"/>
            <a:ext cx="4332799" cy="333493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603" name="Google Shape;603;p4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604" name="Google Shape;604;p4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609" name="Google Shape;609;p49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9"/>
          <p:cNvSpPr txBox="1"/>
          <p:nvPr>
            <p:ph idx="4294967295" type="body"/>
          </p:nvPr>
        </p:nvSpPr>
        <p:spPr>
          <a:xfrm>
            <a:off x="451650" y="3844798"/>
            <a:ext cx="82407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Peak login window:</a:t>
            </a:r>
            <a:r>
              <a:rPr lang="en" sz="1000"/>
              <a:t> </a:t>
            </a:r>
            <a:r>
              <a:rPr i="1" lang="en" sz="1000">
                <a:solidFill>
                  <a:schemeClr val="accent3"/>
                </a:solidFill>
              </a:rPr>
              <a:t>11:00 to 14:00 (lunch hours)</a:t>
            </a:r>
            <a:endParaRPr i="1" sz="1000">
              <a:solidFill>
                <a:schemeClr val="accent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3"/>
                </a:solidFill>
              </a:rPr>
              <a:t>Secondary peak: 08:00 to 10:00 (morning arrivals)</a:t>
            </a:r>
            <a:endParaRPr i="1" sz="1000">
              <a:solidFill>
                <a:schemeClr val="accent3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3"/>
                </a:solidFill>
              </a:rPr>
              <a:t>Low activity: after 20:00</a:t>
            </a:r>
            <a:endParaRPr sz="1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accent3"/>
                </a:solidFill>
              </a:rPr>
              <a:t>Pattern consistent across all 10 locations.</a:t>
            </a:r>
            <a:endParaRPr sz="1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Takeaway:</a:t>
            </a:r>
            <a:r>
              <a:rPr lang="en" sz="1000"/>
              <a:t> </a:t>
            </a:r>
            <a:r>
              <a:rPr i="1" lang="en" sz="1000">
                <a:solidFill>
                  <a:schemeClr val="accent3"/>
                </a:solidFill>
              </a:rPr>
              <a:t>Promotional push notifications and ad delivery should be scheduled within the 11:00 to 14:00 window for maximum reach</a:t>
            </a:r>
            <a:endParaRPr b="1" sz="1000"/>
          </a:p>
        </p:txBody>
      </p:sp>
      <p:pic>
        <p:nvPicPr>
          <p:cNvPr id="611" name="Google Shape;611;p49" title="silde 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950" y="756574"/>
            <a:ext cx="7272101" cy="3041304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9"/>
          <p:cNvSpPr txBox="1"/>
          <p:nvPr/>
        </p:nvSpPr>
        <p:spPr>
          <a:xfrm>
            <a:off x="1069500" y="211021"/>
            <a:ext cx="69111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When Do They Log In?</a:t>
            </a:r>
            <a:endParaRPr b="1" sz="3200">
              <a:solidFill>
                <a:schemeClr val="dk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3" name="Google Shape;613;p4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614" name="Google Shape;614;p4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615" name="Google Shape;615;p4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0"/>
          <p:cNvSpPr txBox="1"/>
          <p:nvPr>
            <p:ph type="title"/>
          </p:nvPr>
        </p:nvSpPr>
        <p:spPr>
          <a:xfrm>
            <a:off x="228600" y="613525"/>
            <a:ext cx="7535100" cy="56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Urbanist"/>
                <a:ea typeface="Urbanist"/>
                <a:cs typeface="Urbanist"/>
                <a:sym typeface="Urbanist"/>
              </a:rPr>
              <a:t>What Devices Do They Use?</a:t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1" name="Google Shape;621;p50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0"/>
          <p:cNvSpPr txBox="1"/>
          <p:nvPr>
            <p:ph idx="1" type="body"/>
          </p:nvPr>
        </p:nvSpPr>
        <p:spPr>
          <a:xfrm>
            <a:off x="5174600" y="1372550"/>
            <a:ext cx="3641400" cy="21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Digital interest distribution: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- Sedang (Moderate): 39%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- Tinggi (High): 31%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- Rendah (Low): 17%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- Sangat Tinggi (Very High): 14%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accent3"/>
                </a:solidFill>
              </a:rPr>
              <a:t>Average digital interest score: 59.66 (95% CI: 57.73 to 61.59)</a:t>
            </a:r>
            <a:endParaRPr b="1" i="1" sz="11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accent3"/>
                </a:solidFill>
              </a:rPr>
              <a:t>Takeaway: 70% of users have moderate to high digital interest. This is a receptive audience for digital campaigns. The top 14% can be targeted as early adopters.</a:t>
            </a:r>
            <a:endParaRPr b="1" i="1" sz="1100">
              <a:solidFill>
                <a:schemeClr val="accent3"/>
              </a:solidFill>
            </a:endParaRPr>
          </a:p>
        </p:txBody>
      </p:sp>
      <p:pic>
        <p:nvPicPr>
          <p:cNvPr id="623" name="Google Shape;623;p50" title="slide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1136688"/>
            <a:ext cx="4384774" cy="3194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50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625" name="Google Shape;625;p50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626" name="Google Shape;626;p50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1"/>
          <p:cNvSpPr txBox="1"/>
          <p:nvPr>
            <p:ph type="title"/>
          </p:nvPr>
        </p:nvSpPr>
        <p:spPr>
          <a:xfrm>
            <a:off x="228600" y="613525"/>
            <a:ext cx="7535100" cy="1034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Urbanist"/>
                <a:ea typeface="Urbanist"/>
                <a:cs typeface="Urbanist"/>
                <a:sym typeface="Urbanist"/>
              </a:rPr>
              <a:t>95% Confidence Interval using t distribution</a:t>
            </a:r>
            <a:endParaRPr b="1" sz="36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51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</p:txBody>
      </p:sp>
      <p:sp>
        <p:nvSpPr>
          <p:cNvPr id="633" name="Google Shape;633;p51"/>
          <p:cNvSpPr txBox="1"/>
          <p:nvPr>
            <p:ph idx="1" type="body"/>
          </p:nvPr>
        </p:nvSpPr>
        <p:spPr>
          <a:xfrm>
            <a:off x="5196000" y="1704325"/>
            <a:ext cx="3641400" cy="9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Why this matters: These intervals are narrow, meaning the estimates are reliable enough for business planning.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accent3"/>
                </a:solidFill>
              </a:rPr>
              <a:t>Campaign design can target the 36 to 39 age range and assume moderate to high digital readiness.</a:t>
            </a:r>
            <a:endParaRPr b="1" i="1" sz="1100">
              <a:solidFill>
                <a:schemeClr val="accent3"/>
              </a:solidFill>
            </a:endParaRPr>
          </a:p>
        </p:txBody>
      </p:sp>
      <p:pic>
        <p:nvPicPr>
          <p:cNvPr id="634" name="Google Shape;634;p51" title="download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647925"/>
            <a:ext cx="4869800" cy="2400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6000" y="2711113"/>
            <a:ext cx="3641400" cy="79723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51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637" name="Google Shape;637;p51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638" name="Google Shape;638;p51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643" name="Google Shape;643;p52"/>
          <p:cNvPicPr preferRelativeResize="0"/>
          <p:nvPr/>
        </p:nvPicPr>
        <p:blipFill rotWithShape="1">
          <a:blip r:embed="rId3">
            <a:alphaModFix/>
          </a:blip>
          <a:srcRect b="50284" l="35228" r="7528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644" name="Google Shape;644;p52"/>
          <p:cNvPicPr preferRelativeResize="0"/>
          <p:nvPr/>
        </p:nvPicPr>
        <p:blipFill rotWithShape="1">
          <a:blip r:embed="rId4">
            <a:alphaModFix/>
          </a:blip>
          <a:srcRect b="2361" l="19958" r="17042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645" name="Google Shape;645;p52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6" name="Google Shape;646;p52"/>
          <p:cNvSpPr txBox="1"/>
          <p:nvPr>
            <p:ph idx="1" type="body"/>
          </p:nvPr>
        </p:nvSpPr>
        <p:spPr>
          <a:xfrm>
            <a:off x="235575" y="737775"/>
            <a:ext cx="4298100" cy="26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b="1" i="1" lang="en" sz="1300">
                <a:solidFill>
                  <a:schemeClr val="accent3"/>
                </a:solidFill>
              </a:rPr>
              <a:t>Optimize login portal for Samsung and Xiaomi </a:t>
            </a:r>
            <a:r>
              <a:rPr lang="en" sz="1300">
                <a:solidFill>
                  <a:schemeClr val="dk2"/>
                </a:solidFill>
              </a:rPr>
              <a:t>devices (43% combined share)</a:t>
            </a:r>
            <a:endParaRPr sz="1300">
              <a:solidFill>
                <a:schemeClr val="dk2"/>
              </a:solidFill>
            </a:endParaRPr>
          </a:p>
          <a:p>
            <a:pPr indent="-2540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b="1" i="1" lang="en" sz="1300">
                <a:solidFill>
                  <a:schemeClr val="accent3"/>
                </a:solidFill>
              </a:rPr>
              <a:t>Schedule campaigns during 11:00 to 14:00</a:t>
            </a:r>
            <a:r>
              <a:rPr lang="en" sz="1300">
                <a:solidFill>
                  <a:schemeClr val="dk2"/>
                </a:solidFill>
              </a:rPr>
              <a:t> peak window</a:t>
            </a:r>
            <a:endParaRPr sz="1300">
              <a:solidFill>
                <a:schemeClr val="dk2"/>
              </a:solidFill>
            </a:endParaRPr>
          </a:p>
          <a:p>
            <a:pPr indent="-2540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b="1" i="1" lang="en" sz="1300">
                <a:solidFill>
                  <a:schemeClr val="accent3"/>
                </a:solidFill>
              </a:rPr>
              <a:t>Expand hotspot placement to tourism and suburban areas</a:t>
            </a:r>
            <a:r>
              <a:rPr lang="en" sz="1300">
                <a:solidFill>
                  <a:schemeClr val="dk2"/>
                </a:solidFill>
              </a:rPr>
              <a:t> showing strong adoption</a:t>
            </a:r>
            <a:endParaRPr sz="1300">
              <a:solidFill>
                <a:schemeClr val="dk2"/>
              </a:solidFill>
            </a:endParaRPr>
          </a:p>
          <a:p>
            <a:pPr indent="-2540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" sz="1300">
                <a:solidFill>
                  <a:schemeClr val="dk2"/>
                </a:solidFill>
              </a:rPr>
              <a:t>Segment campaigns by generation: d</a:t>
            </a:r>
            <a:r>
              <a:rPr b="1" i="1" lang="en" sz="1300">
                <a:solidFill>
                  <a:schemeClr val="accent3"/>
                </a:solidFill>
              </a:rPr>
              <a:t>igital fluency messaging for Gen Z and Millennial, trust and simplicity for Gen X and Boomer</a:t>
            </a:r>
            <a:endParaRPr b="1" i="1" sz="1300">
              <a:solidFill>
                <a:schemeClr val="accent3"/>
              </a:solidFill>
            </a:endParaRPr>
          </a:p>
          <a:p>
            <a:pPr indent="-2540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b="1" i="1" lang="en" sz="1300">
                <a:solidFill>
                  <a:schemeClr val="accent3"/>
                </a:solidFill>
              </a:rPr>
              <a:t>Use the "Sangat Tinggi" interest group as beta testers</a:t>
            </a:r>
            <a:r>
              <a:rPr lang="en" sz="1300">
                <a:solidFill>
                  <a:schemeClr val="dk2"/>
                </a:solidFill>
              </a:rPr>
              <a:t> for new digital features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647" name="Google Shape;647;p52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and Methodology</a:t>
            </a:r>
            <a:endParaRPr/>
          </a:p>
        </p:txBody>
      </p:sp>
      <p:sp>
        <p:nvSpPr>
          <p:cNvPr id="648" name="Google Shape;648;p5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649" name="Google Shape;649;p52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650" name="Google Shape;650;p5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655" name="Google Shape;655;p53"/>
          <p:cNvPicPr preferRelativeResize="0"/>
          <p:nvPr/>
        </p:nvPicPr>
        <p:blipFill rotWithShape="1">
          <a:blip r:embed="rId3">
            <a:alphaModFix/>
          </a:blip>
          <a:srcRect b="50284" l="35228" r="7528" t="-4323"/>
          <a:stretch/>
        </p:blipFill>
        <p:spPr>
          <a:xfrm>
            <a:off x="4618950" y="2158000"/>
            <a:ext cx="4298100" cy="2282700"/>
          </a:xfrm>
          <a:prstGeom prst="roundRect">
            <a:avLst>
              <a:gd fmla="val 618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he edges of black plates against a black background. " id="656" name="Google Shape;656;p53"/>
          <p:cNvPicPr preferRelativeResize="0"/>
          <p:nvPr/>
        </p:nvPicPr>
        <p:blipFill rotWithShape="1">
          <a:blip r:embed="rId4">
            <a:alphaModFix/>
          </a:blip>
          <a:srcRect b="2361" l="19958" r="17042" t="24539"/>
          <a:stretch/>
        </p:blipFill>
        <p:spPr>
          <a:xfrm>
            <a:off x="4618950" y="737775"/>
            <a:ext cx="2068800" cy="1350300"/>
          </a:xfrm>
          <a:prstGeom prst="roundRect">
            <a:avLst>
              <a:gd fmla="val 8809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aint shadows in near total darkness. " id="657" name="Google Shape;657;p53"/>
          <p:cNvPicPr preferRelativeResize="0"/>
          <p:nvPr/>
        </p:nvPicPr>
        <p:blipFill rotWithShape="1">
          <a:blip r:embed="rId5">
            <a:alphaModFix/>
          </a:blip>
          <a:srcRect b="35140" l="0" r="15297" t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fmla="val 8765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8" name="Google Shape;658;p53"/>
          <p:cNvSpPr txBox="1"/>
          <p:nvPr>
            <p:ph idx="1" type="body"/>
          </p:nvPr>
        </p:nvSpPr>
        <p:spPr>
          <a:xfrm>
            <a:off x="235575" y="737775"/>
            <a:ext cx="4092300" cy="29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300">
                <a:solidFill>
                  <a:schemeClr val="dk2"/>
                </a:solidFill>
              </a:rPr>
              <a:t>Language: Python 3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300">
                <a:solidFill>
                  <a:schemeClr val="dk2"/>
                </a:solidFill>
              </a:rPr>
              <a:t>Environment: Jupyter Notebook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300">
                <a:solidFill>
                  <a:schemeClr val="dk2"/>
                </a:solidFill>
              </a:rPr>
              <a:t>Libraries: pandas, numpy, faker, scipy, matplotlib, seaborn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chemeClr val="accent3"/>
                </a:solidFill>
              </a:rPr>
              <a:t>Approach:</a:t>
            </a:r>
            <a:endParaRPr b="1" i="1" sz="1300">
              <a:solidFill>
                <a:schemeClr val="accent3"/>
              </a:solidFill>
            </a:endParaRPr>
          </a:p>
          <a:p>
            <a:pPr indent="-1968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" sz="1300">
                <a:solidFill>
                  <a:schemeClr val="dk2"/>
                </a:solidFill>
              </a:rPr>
              <a:t>Synthetic data generation with realistic Indonesian distributions</a:t>
            </a:r>
            <a:endParaRPr sz="1300">
              <a:solidFill>
                <a:schemeClr val="dk2"/>
              </a:solidFill>
            </a:endParaRPr>
          </a:p>
          <a:p>
            <a:pPr indent="-1968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" sz="1300">
                <a:solidFill>
                  <a:schemeClr val="dk2"/>
                </a:solidFill>
              </a:rPr>
              <a:t>Feature engineering to create analytical variables</a:t>
            </a:r>
            <a:endParaRPr sz="1300">
              <a:solidFill>
                <a:schemeClr val="dk2"/>
              </a:solidFill>
            </a:endParaRPr>
          </a:p>
          <a:p>
            <a:pPr indent="-1968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" sz="1300">
                <a:solidFill>
                  <a:schemeClr val="dk2"/>
                </a:solidFill>
              </a:rPr>
              <a:t>Exploratory data analysis with 5 visualizations</a:t>
            </a:r>
            <a:endParaRPr sz="1300">
              <a:solidFill>
                <a:schemeClr val="dk2"/>
              </a:solidFill>
            </a:endParaRPr>
          </a:p>
          <a:p>
            <a:pPr indent="-1968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" sz="1300">
                <a:solidFill>
                  <a:schemeClr val="dk2"/>
                </a:solidFill>
              </a:rPr>
              <a:t>Confidence interval calculation using t distribution</a:t>
            </a:r>
            <a:endParaRPr sz="1300">
              <a:solidFill>
                <a:schemeClr val="dk2"/>
              </a:solidFill>
            </a:endParaRPr>
          </a:p>
        </p:txBody>
      </p:sp>
      <p:grpSp>
        <p:nvGrpSpPr>
          <p:cNvPr id="659" name="Google Shape;659;p53"/>
          <p:cNvGrpSpPr/>
          <p:nvPr/>
        </p:nvGrpSpPr>
        <p:grpSpPr>
          <a:xfrm>
            <a:off x="228600" y="4114020"/>
            <a:ext cx="1742332" cy="338705"/>
            <a:chOff x="284700" y="4135245"/>
            <a:chExt cx="1742332" cy="338705"/>
          </a:xfrm>
        </p:grpSpPr>
        <p:sp>
          <p:nvSpPr>
            <p:cNvPr id="660" name="Google Shape;660;p53"/>
            <p:cNvSpPr/>
            <p:nvPr/>
          </p:nvSpPr>
          <p:spPr>
            <a:xfrm>
              <a:off x="284700" y="4135250"/>
              <a:ext cx="1399200" cy="3387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Urbanist Medium"/>
                  <a:ea typeface="Urbanist Medium"/>
                  <a:cs typeface="Urbanist Medium"/>
                  <a:sym typeface="Urbanist Medium"/>
                </a:rPr>
                <a:t>Learn more</a:t>
              </a:r>
              <a:endParaRPr sz="10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endParaRPr>
            </a:p>
          </p:txBody>
        </p:sp>
        <p:grpSp>
          <p:nvGrpSpPr>
            <p:cNvPr id="661" name="Google Shape;661;p53"/>
            <p:cNvGrpSpPr/>
            <p:nvPr/>
          </p:nvGrpSpPr>
          <p:grpSpPr>
            <a:xfrm>
              <a:off x="1688332" y="4135245"/>
              <a:ext cx="338700" cy="338700"/>
              <a:chOff x="1688332" y="4135245"/>
              <a:chExt cx="338700" cy="338700"/>
            </a:xfrm>
          </p:grpSpPr>
          <p:sp>
            <p:nvSpPr>
              <p:cNvPr id="662" name="Google Shape;662;p53"/>
              <p:cNvSpPr/>
              <p:nvPr/>
            </p:nvSpPr>
            <p:spPr>
              <a:xfrm rot="-5400000">
                <a:off x="1688332" y="4135245"/>
                <a:ext cx="338700" cy="338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grpSp>
            <p:nvGrpSpPr>
              <p:cNvPr id="663" name="Google Shape;663;p53"/>
              <p:cNvGrpSpPr/>
              <p:nvPr/>
            </p:nvGrpSpPr>
            <p:grpSpPr>
              <a:xfrm rot="-5400000">
                <a:off x="1787014" y="4262191"/>
                <a:ext cx="169598" cy="84809"/>
                <a:chOff x="498725" y="2069800"/>
                <a:chExt cx="205200" cy="102600"/>
              </a:xfrm>
            </p:grpSpPr>
            <p:cxnSp>
              <p:nvCxnSpPr>
                <p:cNvPr id="664" name="Google Shape;664;p53"/>
                <p:cNvCxnSpPr/>
                <p:nvPr/>
              </p:nvCxnSpPr>
              <p:spPr>
                <a:xfrm>
                  <a:off x="4987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65" name="Google Shape;665;p53"/>
                <p:cNvCxnSpPr/>
                <p:nvPr/>
              </p:nvCxnSpPr>
              <p:spPr>
                <a:xfrm flipH="1">
                  <a:off x="601325" y="2069800"/>
                  <a:ext cx="102600" cy="102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666" name="Google Shape;666;p53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and Methodology</a:t>
            </a:r>
            <a:endParaRPr/>
          </a:p>
        </p:txBody>
      </p:sp>
      <p:sp>
        <p:nvSpPr>
          <p:cNvPr id="667" name="Google Shape;667;p53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668" name="Google Shape;668;p53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669" name="Google Shape;669;p53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4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5" name="Google Shape;675;p54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4"/>
          <p:cNvSpPr/>
          <p:nvPr/>
        </p:nvSpPr>
        <p:spPr>
          <a:xfrm>
            <a:off x="6080700" y="2888275"/>
            <a:ext cx="2835000" cy="1564500"/>
          </a:xfrm>
          <a:prstGeom prst="roundRect">
            <a:avLst>
              <a:gd fmla="val 123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7" name="Google Shape;677;p54"/>
          <p:cNvSpPr txBox="1"/>
          <p:nvPr/>
        </p:nvSpPr>
        <p:spPr>
          <a:xfrm>
            <a:off x="6309300" y="3096325"/>
            <a:ext cx="259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Ready for what’s next?</a:t>
            </a: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Let’s </a:t>
            </a: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talk</a:t>
            </a:r>
            <a:endParaRPr sz="1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Qodri Muhamad</a:t>
            </a:r>
            <a:endParaRPr sz="16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qodrimuhamad98@gmail.com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+61 812-1268-1718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8" name="Google Shape;678;p5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qrocketlab</a:t>
            </a:r>
            <a:endParaRPr/>
          </a:p>
        </p:txBody>
      </p:sp>
      <p:sp>
        <p:nvSpPr>
          <p:cNvPr id="679" name="Google Shape;679;p5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</a:t>
            </a:r>
            <a:endParaRPr/>
          </a:p>
        </p:txBody>
      </p:sp>
      <p:sp>
        <p:nvSpPr>
          <p:cNvPr id="680" name="Google Shape;680;p5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